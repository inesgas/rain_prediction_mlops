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91284E-01B5-4CCD-9940-F7816FDF2280}">
  <a:tblStyle styleId="{CA91284E-01B5-4CCD-9940-F7816FDF228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team members. Framing: 'We didn't just train a model — we built the infrastructure to track, serve, and monitor it like a real production system.'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this short — 1 minute. Frame the project as ML + Ops. The goal was the lifecycle, not just the accuracy number.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Mention that Sunshine, Cloud9am, Cloud3pm, Evaporation have significant missings (&gt;40%) — leads to the dropna decision on next slide.</a:t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a strong 'we hit a real ops problem and fixed it' anecdote — show the DagsHub repo page if possible.</a:t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train/test separation discipline — the imputation and scaling statistics are computed on train only and then applied to test, preventing leakage. Explicitly verified during code review.</a:t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why chronological split matters for weather data — avoids leaking future weather patterns into training.</a:t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 important feature: Humidity3pm. Dataset imbalanced 76/24 — naive baseline would be 76%. Our RF at ~85% meaningfully beats that. Recall for Rain class is the real indicator of model quality for this problem.</a:t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Pull a screenshot directly from the DagsHub MLflow run page to show real artifacts if possible. The feature importance numbers here are illustrative — replace with actual values from your run.</a:t>
            </a:r>
            <a:endParaRPr/>
          </a:p>
        </p:txBody>
      </p:sp>
      <p:sp>
        <p:nvSpPr>
          <p:cNvPr id="191" name="Google Shape;1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the request path left to right on the top row. This slide is the visual anchor for the whole 'Ops' half of MLOps.</a:t>
            </a:r>
            <a:endParaRPr/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a live screenshot of the DagsHub MLflow run page (parameters + metrics + artifacts tabs) — concrete proof, not just a claim.</a:t>
            </a:r>
            <a:endParaRPr/>
          </a:p>
        </p:txBody>
      </p:sp>
      <p:sp>
        <p:nvSpPr>
          <p:cNvPr id="242" name="Google Shape;2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the data-drift angle — these gauges aren't vanity metrics, they're an early-warning system if incoming feature distributions shift away from training data.</a:t>
            </a:r>
            <a:endParaRPr/>
          </a:p>
        </p:txBody>
      </p:sp>
      <p:sp>
        <p:nvSpPr>
          <p:cNvPr id="283" name="Google Shape;28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are real gaps found in the project. Being honest about them demonstrates maturity and production-awareness.</a:t>
            </a:r>
            <a:endParaRPr/>
          </a:p>
        </p:txBody>
      </p:sp>
      <p:sp>
        <p:nvSpPr>
          <p:cNvPr id="317" name="Google Shape;31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on the lifecycle framing — ties back to Slide 2's goal statement. Full circle. Thank the audience and open for questions.</a:t>
            </a:r>
            <a:endParaRPr/>
          </a:p>
        </p:txBody>
      </p:sp>
      <p:sp>
        <p:nvSpPr>
          <p:cNvPr id="339" name="Google Shape;33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fmla="val 26316" name="adj"/>
            </a:avLst>
          </a:prstGeom>
          <a:solidFill>
            <a:srgbClr val="02C39A">
              <a:alpha val="80000"/>
            </a:srgbClr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Liora MLOps Bootcamp — Ju</a:t>
            </a:r>
            <a:r>
              <a:rPr b="1" lang="en-US" sz="9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1" i="0" lang="en-US" sz="9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96012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Australia </a:t>
            </a: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Rain Prediction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192024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From </a:t>
            </a:r>
            <a:r>
              <a:rPr lang="en-US" sz="26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RAW-Data</a:t>
            </a:r>
            <a:r>
              <a:rPr b="0" i="0" lang="en-US" sz="2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 to Production - MLOps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263347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Binary Rain Classifier · Australian Weather Stations · Full MLOps Lifecycle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3154680"/>
            <a:ext cx="3657600" cy="274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Final Presentation  ·  13 Slides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·  Ines GASMI , Andrey GERBER , Gunter NEMBACH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&amp; Goal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Slide 2 / 13  ·  2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20040" y="960120"/>
            <a:ext cx="2743200" cy="347472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20040" y="960120"/>
            <a:ext cx="2743200" cy="502920"/>
          </a:xfrm>
          <a:prstGeom prst="roundRect">
            <a:avLst>
              <a:gd fmla="val 21818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29768" y="960120"/>
            <a:ext cx="25237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Question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29768" y="1572768"/>
            <a:ext cx="2523744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Will it rain tomorrow at a given Australian weather station? Useful for agriculture, logistics, and event planning.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291840" y="960120"/>
            <a:ext cx="2743200" cy="347472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291840" y="960120"/>
            <a:ext cx="2743200" cy="502920"/>
          </a:xfrm>
          <a:prstGeom prst="roundRect">
            <a:avLst>
              <a:gd fmla="val 21818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01568" y="960120"/>
            <a:ext cx="25237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291850" y="1572775"/>
            <a:ext cx="27432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Binary forecast enabling timely operational decisions. ~22% of Melbourne days exceed 1 mm rainfall threshold.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263640" y="960120"/>
            <a:ext cx="2743200" cy="347472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263640" y="960120"/>
            <a:ext cx="2743200" cy="502920"/>
          </a:xfrm>
          <a:prstGeom prst="roundRect">
            <a:avLst>
              <a:gd fmla="val 21818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373368" y="960120"/>
            <a:ext cx="25237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Goal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373375" y="1572775"/>
            <a:ext cx="2523600" cy="27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Not only maximize predictive performance — demonstrate a reproducible, versioned, monitored MLOps lifecycle end-to-end.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20040" y="4617720"/>
            <a:ext cx="8503920" cy="384048"/>
          </a:xfrm>
          <a:prstGeom prst="roundRect">
            <a:avLst>
              <a:gd fmla="val 19048" name="adj"/>
            </a:avLst>
          </a:prstGeom>
          <a:solidFill>
            <a:srgbClr val="02C39A">
              <a:alpha val="85098"/>
            </a:srgbClr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57200" y="4617720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⚡  ML + Ops — not just a model that works once, but a pipeline that can be retrained, tracked, deployed, and monitored repeatedly.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125" y="2418800"/>
            <a:ext cx="2341029" cy="201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2400" y="2188575"/>
            <a:ext cx="2432350" cy="2246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4"/>
          <p:cNvPicPr preferRelativeResize="0"/>
          <p:nvPr/>
        </p:nvPicPr>
        <p:blipFill rotWithShape="1">
          <a:blip r:embed="rId5">
            <a:alphaModFix/>
          </a:blip>
          <a:srcRect b="0" l="0" r="6664" t="0"/>
          <a:stretch/>
        </p:blipFill>
        <p:spPr>
          <a:xfrm>
            <a:off x="6263650" y="2418800"/>
            <a:ext cx="2697475" cy="1577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Dataset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Slide 3 / 13  ·  3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20040" y="960120"/>
            <a:ext cx="1920240" cy="1417320"/>
          </a:xfrm>
          <a:prstGeom prst="roundRect">
            <a:avLst>
              <a:gd fmla="val 6452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20040" y="102412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145,461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20040" y="16916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20040" y="20116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2008 – 2017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2468880" y="960120"/>
            <a:ext cx="1920240" cy="1417320"/>
          </a:xfrm>
          <a:prstGeom prst="roundRect">
            <a:avLst>
              <a:gd fmla="val 6452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2468880" y="102412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23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468880" y="16916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468880" y="20116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weather metrics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617720" y="960120"/>
            <a:ext cx="1920240" cy="1417320"/>
          </a:xfrm>
          <a:prstGeom prst="roundRect">
            <a:avLst>
              <a:gd fmla="val 6452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617720" y="102412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49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617720" y="16916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617720" y="20116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across Australia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766560" y="960120"/>
            <a:ext cx="1920240" cy="1417320"/>
          </a:xfrm>
          <a:prstGeom prst="roundRect">
            <a:avLst>
              <a:gd fmla="val 6452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766560" y="102412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~22%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766560" y="16916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Rain Days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766560" y="20116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class imbalance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20040" y="26060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Key Features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" name="Google Shape;73;p5"/>
          <p:cNvGraphicFramePr/>
          <p:nvPr/>
        </p:nvGraphicFramePr>
        <p:xfrm>
          <a:off x="320040" y="297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{CA91284E-01B5-4CCD-9940-F7816FDF2280}</a:tableStyleId>
              </a:tblPr>
              <a:tblGrid>
                <a:gridCol w="2834650"/>
                <a:gridCol w="2834650"/>
                <a:gridCol w="283465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 Group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Numeric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Humidity, Pressure, Temperature, Wind, Rainfall…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Categorical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Location, WindGustDir, WindDir9am/3pm, Season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Engineered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Season (from Date → Summer/Autumn/Winter/Spring)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RainToday (Yes/No) — renamed from RainTomorrow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Versioning — DVC + DagsHub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Slide 4 / 13  ·  3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320050" y="1001275"/>
            <a:ext cx="1661400" cy="960000"/>
          </a:xfrm>
          <a:prstGeom prst="roundRect">
            <a:avLst>
              <a:gd fmla="val 9524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151975" y="971438"/>
            <a:ext cx="2103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weatherAUS.csv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(raw data)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6"/>
          <p:cNvCxnSpPr/>
          <p:nvPr/>
        </p:nvCxnSpPr>
        <p:spPr>
          <a:xfrm>
            <a:off x="1981447" y="1439675"/>
            <a:ext cx="354000" cy="8400"/>
          </a:xfrm>
          <a:prstGeom prst="straightConnector1">
            <a:avLst/>
          </a:prstGeom>
          <a:noFill/>
          <a:ln cap="flat" cmpd="sng" w="317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6"/>
          <p:cNvSpPr/>
          <p:nvPr/>
        </p:nvSpPr>
        <p:spPr>
          <a:xfrm>
            <a:off x="2335448" y="937025"/>
            <a:ext cx="1764300" cy="960000"/>
          </a:xfrm>
          <a:prstGeom prst="roundRect">
            <a:avLst>
              <a:gd fmla="val 9524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2406722" y="971438"/>
            <a:ext cx="1537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.dvc pointer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(in Git repo)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6"/>
          <p:cNvCxnSpPr/>
          <p:nvPr/>
        </p:nvCxnSpPr>
        <p:spPr>
          <a:xfrm flipH="1" rot="10800000">
            <a:off x="4811113" y="1411478"/>
            <a:ext cx="375300" cy="11100"/>
          </a:xfrm>
          <a:prstGeom prst="straightConnector1">
            <a:avLst/>
          </a:prstGeom>
          <a:noFill/>
          <a:ln cap="flat" cmpd="sng" w="317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6"/>
          <p:cNvSpPr/>
          <p:nvPr/>
        </p:nvSpPr>
        <p:spPr>
          <a:xfrm>
            <a:off x="4515547" y="937025"/>
            <a:ext cx="1537800" cy="960000"/>
          </a:xfrm>
          <a:prstGeom prst="roundRect">
            <a:avLst>
              <a:gd fmla="val 9524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453751" y="971438"/>
            <a:ext cx="16614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DagsHub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Remote Storage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6"/>
          <p:cNvCxnSpPr>
            <a:stCxn id="86" idx="3"/>
            <a:endCxn id="91" idx="1"/>
          </p:cNvCxnSpPr>
          <p:nvPr/>
        </p:nvCxnSpPr>
        <p:spPr>
          <a:xfrm>
            <a:off x="3944522" y="1451438"/>
            <a:ext cx="2604000" cy="0"/>
          </a:xfrm>
          <a:prstGeom prst="straightConnector1">
            <a:avLst/>
          </a:prstGeom>
          <a:noFill/>
          <a:ln cap="flat" cmpd="sng" w="317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6"/>
          <p:cNvSpPr/>
          <p:nvPr/>
        </p:nvSpPr>
        <p:spPr>
          <a:xfrm>
            <a:off x="6548575" y="1019613"/>
            <a:ext cx="1537800" cy="960000"/>
          </a:xfrm>
          <a:prstGeom prst="roundRect">
            <a:avLst>
              <a:gd fmla="val 9524" name="adj"/>
            </a:avLst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6548575" y="971438"/>
            <a:ext cx="1494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Reproducible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Lineage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320040" y="2176272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Why DVC?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57200" y="2578608"/>
            <a:ext cx="832104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Raw data &amp; model artifacts NOT stored in Git — only lightweight .dvc pointer files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Content-addressed blobs on DagsHub: every data version is fully reproducible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Prevents repository bloat while maintaining complete data lineage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Real lesson learned: DVC remote had gaps (blobs never pushed) → recovered from original source, re-ran dvc push to restore consistency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20040" y="4617720"/>
            <a:ext cx="8503920" cy="384048"/>
          </a:xfrm>
          <a:prstGeom prst="roundRect">
            <a:avLst>
              <a:gd fmla="val 19048" name="adj"/>
            </a:avLst>
          </a:prstGeom>
          <a:solidFill>
            <a:srgbClr val="FFF3CD"/>
          </a:solidFill>
          <a:ln cap="flat" cmpd="sng" w="12700">
            <a:solidFill>
              <a:srgbClr val="E6C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457200" y="4617720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59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D5900"/>
                </a:solidFill>
                <a:latin typeface="Calibri"/>
                <a:ea typeface="Calibri"/>
                <a:cs typeface="Calibri"/>
                <a:sym typeface="Calibri"/>
              </a:rPr>
              <a:t>⚠  Lesson: DVC isn't just 'git for data' — remote storage gaps are a real failure mode. Always verify dvc push in CI.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Feature Engineering &amp; Preprocessing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Slide 5 / 13  ·  3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20040" y="96012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Data Pipeline Steps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20040" y="1426464"/>
            <a:ext cx="347472" cy="347472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320040" y="142646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749808" y="1389888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737360" y="1389888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145,460 rows × 23 cols from BOM/Kaggle CSV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320040" y="1993392"/>
            <a:ext cx="347472" cy="347472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320040" y="19933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749808" y="1956816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dropna()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737360" y="1956816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56,420 rows (removes all rows with ANY missing value)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20040" y="2560320"/>
            <a:ext cx="347472" cy="347472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320040" y="25603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749808" y="2523744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Location Filter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737360" y="2523744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Melbourne, MelbourneAirport, Watsonia → 7,557 rows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320040" y="3127248"/>
            <a:ext cx="347472" cy="347472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320040" y="31272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49808" y="3090672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Rename 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737360" y="3090672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RainToday → RainYesterday  |  RainTomorrow → RainToday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20040" y="3694176"/>
            <a:ext cx="347472" cy="347472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320040" y="36941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749808" y="3657600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Season Feature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737360" y="3657600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Date.month mapped to Summer/Autumn/Winter/Spring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20040" y="4261104"/>
            <a:ext cx="347472" cy="347472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320040" y="426110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749808" y="4224528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Drop 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737360" y="4224528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Season captures temporal signal; raw date dropped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029200" y="960120"/>
            <a:ext cx="3840480" cy="3977640"/>
          </a:xfrm>
          <a:prstGeom prst="roundRect">
            <a:avLst>
              <a:gd fmla="val 2857" name="adj"/>
            </a:avLst>
          </a:prstGeom>
          <a:solidFill>
            <a:srgbClr val="EAF4FB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5166360" y="105156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Sklearn Preprocessing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212080" y="1508760"/>
            <a:ext cx="347472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5349240" y="153619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Numeric (16 features)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349240" y="182880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StandardScaler → zero mean, unit variance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212080" y="2487168"/>
            <a:ext cx="347472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5349240" y="25146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Categorical (6 features)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349240" y="2807208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OneHotEncoder (handle_unknown='ignore')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5212080" y="3456432"/>
            <a:ext cx="3474720" cy="685800"/>
          </a:xfrm>
          <a:prstGeom prst="roundRect">
            <a:avLst>
              <a:gd fmla="val 10667" name="adj"/>
            </a:avLst>
          </a:prstGeom>
          <a:solidFill>
            <a:srgbClr val="02C39A">
              <a:alpha val="80000"/>
            </a:srgbClr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5349240" y="34564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ColumnTransformer → unified feature matrix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320040" y="4617720"/>
            <a:ext cx="8503920" cy="384048"/>
          </a:xfrm>
          <a:prstGeom prst="roundRect">
            <a:avLst>
              <a:gd fmla="val 19048" name="adj"/>
            </a:avLst>
          </a:prstGeom>
          <a:solidFill>
            <a:srgbClr val="E8F4FD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457200" y="4617720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🔒 No Leakage: imputation/scaling statistics computed on X_train only — applied to X_test. Stratify=y preserves 76/24 class ratio in splits.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Modeling Pipeline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Slide 6 / 13  ·  3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20040" y="960120"/>
            <a:ext cx="4160520" cy="352044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320040" y="960120"/>
            <a:ext cx="4160520" cy="502920"/>
          </a:xfrm>
          <a:prstGeom prst="roundRect">
            <a:avLst>
              <a:gd fmla="val 21818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57200" y="96012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Random Forest  (Primary)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57200" y="1554475"/>
            <a:ext cx="3840600" cy="12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n_estimators: [50, 100]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max_depth: [None, 10, 20]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min_samples_split: [2, 5]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12 combos × 5 folds = 60 fits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StratifiedKFold(n_splits=5, shuffle=True)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Scoring: 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663440" y="960120"/>
            <a:ext cx="4160520" cy="352044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4663440" y="960120"/>
            <a:ext cx="4160520" cy="502920"/>
          </a:xfrm>
          <a:prstGeom prst="roundRect">
            <a:avLst>
              <a:gd fmla="val 21818" name="adj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800600" y="96012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Logistic Regression  (Baseline)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800600" y="1554478"/>
            <a:ext cx="3840600" cy="10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solver: ['liblinear']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penalty: ['l1', 'l2']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class_weight: [None, 'balanced']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4 combos × 5 folds = 20 fits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Same StratifiedKFold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Note: penalty deprecated in sklearn ≥ 1.8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20040" y="4617720"/>
            <a:ext cx="8503920" cy="384048"/>
          </a:xfrm>
          <a:prstGeom prst="roundRect">
            <a:avLst>
              <a:gd fmla="val 19048" name="adj"/>
            </a:avLst>
          </a:prstGeom>
          <a:solidFill>
            <a:srgbClr val="EAF4FB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457200" y="4617720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Chronological discipline: split respects time-series nature of weather data → no future pattern leakage. Full pipeline: Preprocessor → Classifier → GridSearchCV.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0" r="7995" t="0"/>
          <a:stretch/>
        </p:blipFill>
        <p:spPr>
          <a:xfrm>
            <a:off x="952188" y="2789125"/>
            <a:ext cx="2850624" cy="169142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39"/>
              </a:srgbClr>
            </a:outerShdw>
          </a:effectLst>
        </p:spPr>
      </p:pic>
      <p:pic>
        <p:nvPicPr>
          <p:cNvPr id="161" name="Google Shape;161;p8"/>
          <p:cNvPicPr preferRelativeResize="0"/>
          <p:nvPr/>
        </p:nvPicPr>
        <p:blipFill rotWithShape="1">
          <a:blip r:embed="rId4">
            <a:alphaModFix/>
          </a:blip>
          <a:srcRect b="0" l="0" r="7826" t="0"/>
          <a:stretch/>
        </p:blipFill>
        <p:spPr>
          <a:xfrm>
            <a:off x="5211187" y="2645587"/>
            <a:ext cx="3065024" cy="181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Model Results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Slide 7 / 13  ·  4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20040" y="960120"/>
            <a:ext cx="1920240" cy="1325880"/>
          </a:xfrm>
          <a:prstGeom prst="roundRect">
            <a:avLst>
              <a:gd fmla="val 6897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320040" y="100584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~85%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320040" y="16459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320040" y="192024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2468880" y="960120"/>
            <a:ext cx="1920240" cy="1325880"/>
          </a:xfrm>
          <a:prstGeom prst="roundRect">
            <a:avLst>
              <a:gd fmla="val 6897" name="adj"/>
            </a:avLst>
          </a:prstGeom>
          <a:solidFill>
            <a:srgbClr val="EAF4FB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2468880" y="100584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83%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2468880" y="16459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LR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2468880" y="192024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4617720" y="960120"/>
            <a:ext cx="1920240" cy="1325880"/>
          </a:xfrm>
          <a:prstGeom prst="roundRect">
            <a:avLst>
              <a:gd fmla="val 6897" name="adj"/>
            </a:avLst>
          </a:prstGeom>
          <a:solidFill>
            <a:srgbClr val="EAF4FB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4617720" y="100584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76%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617720" y="16459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617720" y="192024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Always predict No Rain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766560" y="960120"/>
            <a:ext cx="1920240" cy="1325880"/>
          </a:xfrm>
          <a:prstGeom prst="roundRect">
            <a:avLst>
              <a:gd fmla="val 6897" name="adj"/>
            </a:avLst>
          </a:prstGeom>
          <a:solidFill>
            <a:srgbClr val="EAF4FB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6766560" y="100584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51%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766560" y="16459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LR Recall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766560" y="192024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Rain class (Yes)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320040" y="248716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Detailed Comparison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9"/>
          <p:cNvGraphicFramePr/>
          <p:nvPr/>
        </p:nvGraphicFramePr>
        <p:xfrm>
          <a:off x="320040" y="2880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{CA91284E-01B5-4CCD-9940-F7816FDF2280}</a:tableStyleId>
              </a:tblPr>
              <a:tblGrid>
                <a:gridCol w="2125975"/>
                <a:gridCol w="2125975"/>
                <a:gridCol w="2125975"/>
                <a:gridCol w="2125975"/>
              </a:tblGrid>
              <a:tr h="29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Advantage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~85%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 (Rain)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 (Rain)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(Rain)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Interpretability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 (feat. importance)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(coefficients)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Training Time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~0.4–0.9s/fold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~0.1–0.2s/fold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Model Results — Visual Analysis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Slide 8 / 13  ·  4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14400"/>
            <a:ext cx="5303520" cy="3794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6440" y="914400"/>
            <a:ext cx="301752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0"/>
          <p:cNvSpPr/>
          <p:nvPr/>
        </p:nvSpPr>
        <p:spPr>
          <a:xfrm>
            <a:off x="5806440" y="3246120"/>
            <a:ext cx="3017520" cy="1463040"/>
          </a:xfrm>
          <a:prstGeom prst="roundRect">
            <a:avLst>
              <a:gd fmla="val 6250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5943600" y="331012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Key Insight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5943600" y="3675888"/>
            <a:ext cx="2743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Humidity3pm is the #1 predictor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Followed by pressure measurements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Imbalanced classes → always use stratify=y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MLOps Architecture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274320" y="1051560"/>
            <a:ext cx="1463040" cy="685800"/>
          </a:xfrm>
          <a:prstGeom prst="roundRect">
            <a:avLst>
              <a:gd fmla="val 13333" name="adj"/>
            </a:avLst>
          </a:prstGeom>
          <a:solidFill>
            <a:srgbClr val="64748B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274320" y="105156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Browser/API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11"/>
          <p:cNvCxnSpPr/>
          <p:nvPr/>
        </p:nvCxnSpPr>
        <p:spPr>
          <a:xfrm>
            <a:off x="1755648" y="138988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11"/>
          <p:cNvSpPr/>
          <p:nvPr/>
        </p:nvSpPr>
        <p:spPr>
          <a:xfrm>
            <a:off x="1965960" y="1051560"/>
            <a:ext cx="1463040" cy="685800"/>
          </a:xfrm>
          <a:prstGeom prst="roundRect">
            <a:avLst>
              <a:gd fmla="val 13333" name="adj"/>
            </a:avLst>
          </a:prstGeom>
          <a:solidFill>
            <a:srgbClr val="1C7293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1965960" y="105156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Nginx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Reverse Proxy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11"/>
          <p:cNvCxnSpPr/>
          <p:nvPr/>
        </p:nvCxnSpPr>
        <p:spPr>
          <a:xfrm>
            <a:off x="3447288" y="138988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11"/>
          <p:cNvSpPr/>
          <p:nvPr/>
        </p:nvSpPr>
        <p:spPr>
          <a:xfrm>
            <a:off x="3657600" y="1051560"/>
            <a:ext cx="1737360" cy="685800"/>
          </a:xfrm>
          <a:prstGeom prst="roundRect">
            <a:avLst>
              <a:gd fmla="val 13333" name="adj"/>
            </a:avLst>
          </a:prstGeom>
          <a:solidFill>
            <a:srgbClr val="1C7293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3657600" y="1051560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Prediction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11"/>
          <p:cNvCxnSpPr/>
          <p:nvPr/>
        </p:nvCxnSpPr>
        <p:spPr>
          <a:xfrm>
            <a:off x="5413248" y="138988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11"/>
          <p:cNvSpPr/>
          <p:nvPr/>
        </p:nvSpPr>
        <p:spPr>
          <a:xfrm>
            <a:off x="5623560" y="1051560"/>
            <a:ext cx="1463040" cy="685800"/>
          </a:xfrm>
          <a:prstGeom prst="roundRect">
            <a:avLst>
              <a:gd fmla="val 13333" name="adj"/>
            </a:avLst>
          </a:prstGeom>
          <a:solidFill>
            <a:srgbClr val="065A82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5623560" y="105156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CatBoost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11"/>
          <p:cNvCxnSpPr/>
          <p:nvPr/>
        </p:nvCxnSpPr>
        <p:spPr>
          <a:xfrm>
            <a:off x="7104888" y="138988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11"/>
          <p:cNvSpPr/>
          <p:nvPr/>
        </p:nvSpPr>
        <p:spPr>
          <a:xfrm>
            <a:off x="7315200" y="1051560"/>
            <a:ext cx="1508760" cy="685800"/>
          </a:xfrm>
          <a:prstGeom prst="roundRect">
            <a:avLst>
              <a:gd fmla="val 13333" name="adj"/>
            </a:avLst>
          </a:prstGeom>
          <a:solidFill>
            <a:srgbClr val="0D9488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7315200" y="1051560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MLflow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3657600" y="1965960"/>
            <a:ext cx="1737360" cy="274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2743200" y="2057400"/>
            <a:ext cx="1463040" cy="640080"/>
          </a:xfrm>
          <a:prstGeom prst="roundRect">
            <a:avLst>
              <a:gd fmla="val 11429" name="adj"/>
            </a:avLst>
          </a:prstGeom>
          <a:solidFill>
            <a:srgbClr val="1B4F72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2743200" y="205740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Prometheus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Scraping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4389120" y="2057400"/>
            <a:ext cx="1463040" cy="640080"/>
          </a:xfrm>
          <a:prstGeom prst="roundRect">
            <a:avLst>
              <a:gd fmla="val 11429" name="adj"/>
            </a:avLst>
          </a:prstGeom>
          <a:solidFill>
            <a:srgbClr val="1B4F72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4389120" y="205740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6035040" y="2057400"/>
            <a:ext cx="1554480" cy="640080"/>
          </a:xfrm>
          <a:prstGeom prst="roundRect">
            <a:avLst>
              <a:gd fmla="val 11429" name="adj"/>
            </a:avLst>
          </a:prstGeom>
          <a:solidFill>
            <a:srgbClr val="1B4F72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6035040" y="20574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/metrics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11"/>
          <p:cNvCxnSpPr/>
          <p:nvPr/>
        </p:nvCxnSpPr>
        <p:spPr>
          <a:xfrm>
            <a:off x="4526280" y="1737360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11"/>
          <p:cNvSpPr/>
          <p:nvPr/>
        </p:nvSpPr>
        <p:spPr>
          <a:xfrm>
            <a:off x="274320" y="2880360"/>
            <a:ext cx="4114800" cy="2011680"/>
          </a:xfrm>
          <a:prstGeom prst="roundRect">
            <a:avLst>
              <a:gd fmla="val 4545" name="adj"/>
            </a:avLst>
          </a:prstGeom>
          <a:solidFill>
            <a:srgbClr val="0A2540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411480" y="292608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API Endpoints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57200" y="33375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POST  /predict       → RainToday: Yes/No + confidence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457200" y="362102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GET   /health        → service 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457200" y="39044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GET   /metrics       → Prometheus metrics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457200" y="4187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GET   /model/info    → active model version (admin)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57200" y="447141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GET   /model/features → feature schema (admin)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4572000" y="2880360"/>
            <a:ext cx="4251960" cy="2011680"/>
          </a:xfrm>
          <a:prstGeom prst="roundRect">
            <a:avLst>
              <a:gd fmla="val 4545" name="adj"/>
            </a:avLst>
          </a:prstGeom>
          <a:solidFill>
            <a:srgbClr val="0A2540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4709160" y="29260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Security &amp; Access Control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4709160" y="3337560"/>
            <a:ext cx="39776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Nginx: Basic Auth + TLS / SSL termination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Role-based access: admin vs. user via Depends()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Auth username passed via header to FastAPI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Docker Compose orchestrates all services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⚠  Credentials externalized to env vars (roadmap)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Experiment Tracking — MLflow + DagsHub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Slide 10 / 13  ·  5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320040" y="96012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What Gets Logged Per Run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320040" y="1389888"/>
            <a:ext cx="4206240" cy="548640"/>
          </a:xfrm>
          <a:prstGeom prst="roundRect">
            <a:avLst>
              <a:gd fmla="val 13333" name="adj"/>
            </a:avLst>
          </a:prstGeom>
          <a:solidFill>
            <a:srgbClr val="EAF4FB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384048" y="1389888"/>
            <a:ext cx="4754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896112" y="14173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Hyperparameters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896112" y="1664208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n_estimators, max_depth, min_samples_split (RF) / solver, penalty, class_weight (LR)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320040" y="2011680"/>
            <a:ext cx="4206240" cy="548640"/>
          </a:xfrm>
          <a:prstGeom prst="roundRect">
            <a:avLst>
              <a:gd fmla="val 13333" name="adj"/>
            </a:avLst>
          </a:prstGeom>
          <a:solidFill>
            <a:srgbClr val="EAF4FB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384048" y="2011680"/>
            <a:ext cx="4754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896112" y="203911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Evaluation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896112" y="2286000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accuracy, precision, recall, F1 (per class + weighted avg)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320040" y="2633472"/>
            <a:ext cx="4206240" cy="548640"/>
          </a:xfrm>
          <a:prstGeom prst="roundRect">
            <a:avLst>
              <a:gd fmla="val 13333" name="adj"/>
            </a:avLst>
          </a:prstGeom>
          <a:solidFill>
            <a:srgbClr val="EAF4FB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384048" y="2633472"/>
            <a:ext cx="4754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896112" y="266090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Test Period Dates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896112" y="2907792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Train/test date ranges for reproducibility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320040" y="3255264"/>
            <a:ext cx="4206240" cy="548640"/>
          </a:xfrm>
          <a:prstGeom prst="roundRect">
            <a:avLst>
              <a:gd fmla="val 13333" name="adj"/>
            </a:avLst>
          </a:prstGeom>
          <a:solidFill>
            <a:srgbClr val="EAF4FB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384048" y="3255264"/>
            <a:ext cx="4754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🗂️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896112" y="328269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Model Artifact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896112" y="3529584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Trained sklearn pipeline (CatBoost / RF / LR) logged as MLflow artifact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320040" y="3877056"/>
            <a:ext cx="4206240" cy="548640"/>
          </a:xfrm>
          <a:prstGeom prst="roundRect">
            <a:avLst>
              <a:gd fmla="val 13333" name="adj"/>
            </a:avLst>
          </a:prstGeom>
          <a:solidFill>
            <a:srgbClr val="EAF4FB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384048" y="3877056"/>
            <a:ext cx="4754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896112" y="39044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DVC Pointer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896112" y="4151376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Link to versioned data snapshot used in training run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4635650" y="960125"/>
            <a:ext cx="2222400" cy="2423100"/>
          </a:xfrm>
          <a:prstGeom prst="roundRect">
            <a:avLst>
              <a:gd fmla="val 3774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4846320" y="1005840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mbria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MLflow Integration Snippet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4635725" y="1435600"/>
            <a:ext cx="222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import mlflow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4635725" y="1636650"/>
            <a:ext cx="222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with mlflow.start_run():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4635725" y="1837800"/>
            <a:ext cx="229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  mlflow.log_params(grid_search.best_params_)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4657025" y="2038975"/>
            <a:ext cx="2148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  mlflow.log_metric('accuracy', best_score)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4635725" y="2185550"/>
            <a:ext cx="222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  mlflow.sklearn.log_model(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4635725" y="2441325"/>
            <a:ext cx="222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    grid_search.best_estimator_,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4635725" y="2587600"/>
            <a:ext cx="2222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    'rain_classifier'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4846323" y="2843775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65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shot mlflow run 23.06.2026" id="278" name="Google Shape;278;p12"/>
          <p:cNvPicPr preferRelativeResize="0"/>
          <p:nvPr/>
        </p:nvPicPr>
        <p:blipFill rotWithShape="1">
          <a:blip r:embed="rId3">
            <a:alphaModFix/>
          </a:blip>
          <a:srcRect b="0" l="0" r="23266" t="0"/>
          <a:stretch/>
        </p:blipFill>
        <p:spPr>
          <a:xfrm>
            <a:off x="6892375" y="960125"/>
            <a:ext cx="2148901" cy="2400274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9" name="Google Shape;279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1739" y="3412500"/>
            <a:ext cx="2938283" cy="16961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Monitoring — Prometheus + Grafana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Slide 11 / 13  ·  5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320040" y="96012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Infrastructure Metrics (Auto-instrumented)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320040" y="1389888"/>
            <a:ext cx="4206240" cy="475488"/>
          </a:xfrm>
          <a:prstGeom prst="roundRect">
            <a:avLst>
              <a:gd fmla="val 15385" name="adj"/>
            </a:avLst>
          </a:prstGeom>
          <a:solidFill>
            <a:srgbClr val="EAF4FB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457200" y="1389888"/>
            <a:ext cx="3977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✅ Request latency (histogram)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320040" y="1938528"/>
            <a:ext cx="4206240" cy="475488"/>
          </a:xfrm>
          <a:prstGeom prst="roundRect">
            <a:avLst>
              <a:gd fmla="val 15385" name="adj"/>
            </a:avLst>
          </a:prstGeom>
          <a:solidFill>
            <a:srgbClr val="EAF4FB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457200" y="1938528"/>
            <a:ext cx="3977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✅ Request counts by endpoint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320040" y="2487168"/>
            <a:ext cx="4206240" cy="475488"/>
          </a:xfrm>
          <a:prstGeom prst="roundRect">
            <a:avLst>
              <a:gd fmla="val 15385" name="adj"/>
            </a:avLst>
          </a:prstGeom>
          <a:solidFill>
            <a:srgbClr val="EAF4FB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457200" y="2487168"/>
            <a:ext cx="3977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✅ HTTP status code distribution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320040" y="3035808"/>
            <a:ext cx="4206240" cy="475488"/>
          </a:xfrm>
          <a:prstGeom prst="roundRect">
            <a:avLst>
              <a:gd fmla="val 15385" name="adj"/>
            </a:avLst>
          </a:prstGeom>
          <a:solidFill>
            <a:srgbClr val="EAF4FB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457200" y="3035808"/>
            <a:ext cx="3977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✅ Error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320040" y="3584448"/>
            <a:ext cx="4206240" cy="475488"/>
          </a:xfrm>
          <a:prstGeom prst="roundRect">
            <a:avLst>
              <a:gd fmla="val 15385" name="adj"/>
            </a:avLst>
          </a:prstGeom>
          <a:solidFill>
            <a:srgbClr val="EAF4FB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457200" y="3584448"/>
            <a:ext cx="3977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✅ CPU / Memory (node-exporter)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4663440" y="960120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Custom ML / Business Metrics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4663440" y="1389888"/>
            <a:ext cx="4160520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4800600" y="142646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ourier New"/>
                <a:ea typeface="Courier New"/>
                <a:cs typeface="Courier New"/>
                <a:sym typeface="Courier New"/>
              </a:rPr>
              <a:t>rain_predictions_total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4800600" y="170078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predictions by location + outcome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4663440" y="2048256"/>
            <a:ext cx="4160520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4800600" y="20848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ourier New"/>
                <a:ea typeface="Courier New"/>
                <a:cs typeface="Courier New"/>
                <a:sym typeface="Courier New"/>
              </a:rPr>
              <a:t>rain_prediction_confidence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4800600" y="235915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confidence score histogram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4663440" y="2706624"/>
            <a:ext cx="4160520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4800600" y="274320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ourier New"/>
                <a:ea typeface="Courier New"/>
                <a:cs typeface="Courier New"/>
                <a:sym typeface="Courier New"/>
              </a:rPr>
              <a:t>rain_input_humidity/rainfall/pressure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4800600" y="301752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 drift signal per location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4663440" y="3364992"/>
            <a:ext cx="4160520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4800600" y="340156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ourier New"/>
                <a:ea typeface="Courier New"/>
                <a:cs typeface="Courier New"/>
                <a:sym typeface="Courier New"/>
              </a:rPr>
              <a:t>rain_prediction_errors_total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4800600" y="367588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error counter by failure type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320040" y="4617720"/>
            <a:ext cx="8503920" cy="384048"/>
          </a:xfrm>
          <a:prstGeom prst="roundRect">
            <a:avLst>
              <a:gd fmla="val 19048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457200" y="4617720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Drift Monitoring: Humidity3pm &amp; Pressure9am gauges serve as early-warning system when incoming feature distributions shift from training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Limitations &amp; Lessons Learned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Slide 12 / 13  ·  3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320040" y="960120"/>
            <a:ext cx="4114800" cy="164592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905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457200" y="105156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🗄️  DVC Remote Gaps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57200" y="146304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Missing blobs discovered during project — never pushed initially. Recovered from original source, re-ran dvc push to restore team consistency.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4663440" y="960120"/>
            <a:ext cx="4114800" cy="164592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4800600" y="105156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🔒  Hardcoded Credentials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4800600" y="146304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User/role credentials originally in API code. Identified as security risk — proposed fix: externalize to environment variables / secrets manager.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320040" y="2788920"/>
            <a:ext cx="4114800" cy="164592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905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457200" y="288036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📁  Unrecoverable Artifacts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457200" y="329184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baseline feature tables (~300 MB total) remain unreproducible — no script regenerates them from raw data. Documentation gap.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4663440" y="2788920"/>
            <a:ext cx="4114800" cy="164592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4800600" y="288036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👤  Coarse-grained Auth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4800600" y="329184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Role-based access is admin vs. user only. No per-user rate limiting or audit logging yet. Acceptable for MVP, not for production.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320040" y="4617720"/>
            <a:ext cx="8503920" cy="384048"/>
          </a:xfrm>
          <a:prstGeom prst="roundRect">
            <a:avLst>
              <a:gd fmla="val 19048" name="adj"/>
            </a:avLst>
          </a:prstGeom>
          <a:solidFill>
            <a:srgbClr val="02C39A">
              <a:alpha val="80000"/>
            </a:srgbClr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457200" y="4617720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Being upfront about real gaps is a strength in an MLOps presentation — it shows production-mindedness, not just 'it works on my machine'.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"/>
          <p:cNvSpPr/>
          <p:nvPr/>
        </p:nvSpPr>
        <p:spPr>
          <a:xfrm>
            <a:off x="6583680" y="2286000"/>
            <a:ext cx="4114800" cy="4114800"/>
          </a:xfrm>
          <a:prstGeom prst="ellipse">
            <a:avLst/>
          </a:prstGeom>
          <a:solidFill>
            <a:srgbClr val="1C7293">
              <a:alpha val="20000"/>
            </a:srgbClr>
          </a:solidFill>
          <a:ln cap="flat" cmpd="sng" w="12700">
            <a:solidFill>
              <a:srgbClr val="1C7293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02C39A">
              <a:alpha val="14901"/>
            </a:srgbClr>
          </a:solidFill>
          <a:ln cap="flat" cmpd="sng" w="12700">
            <a:solidFill>
              <a:srgbClr val="02C39A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457200" y="13716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Roadmap &amp; Closing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457200" y="86868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Next Steps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457200" y="1408176"/>
            <a:ext cx="292608" cy="292608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5"/>
          <p:cNvSpPr/>
          <p:nvPr/>
        </p:nvSpPr>
        <p:spPr>
          <a:xfrm>
            <a:off x="457200" y="140817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841248" y="1344168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Externalize all credentials fully (env vars / secrets manager)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457200" y="1911096"/>
            <a:ext cx="292608" cy="292608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457200" y="191109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841248" y="1847088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Automate dvc push + data integrity checks in CI pipeline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457200" y="2414016"/>
            <a:ext cx="292608" cy="292608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457200" y="241401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841248" y="2350008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Add MLflow model registry stage transitions: staging → production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457200" y="2916936"/>
            <a:ext cx="292608" cy="292608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457200" y="291693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841248" y="2852928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Automated retraining trigger on data drift signal from Grafana alerts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457200" y="3419856"/>
            <a:ext cx="292608" cy="292608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457200" y="34198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841248" y="3355848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Extend per-user rate limiting and audit logging in FastAPI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457200" y="4160520"/>
            <a:ext cx="8046720" cy="804672"/>
          </a:xfrm>
          <a:prstGeom prst="roundRect">
            <a:avLst>
              <a:gd fmla="val 13636" name="adj"/>
            </a:avLst>
          </a:prstGeom>
          <a:solidFill>
            <a:srgbClr val="1C7293">
              <a:alpha val="80000"/>
            </a:srgbClr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594360" y="4160520"/>
            <a:ext cx="7772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"This project shows the full lifecycle — not just a model that works once, but a pipeline that can be retrained, tracked, deployed, and monitored repeatedly."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